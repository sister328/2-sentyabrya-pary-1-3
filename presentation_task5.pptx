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A42"/>
                </a:solidFill>
              </a:defRPr>
            </a:pPr>
            <a:r>
              <a:t>«Перекуп»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1556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77A"/>
                </a:solidFill>
              </a:defRPr>
            </a:pPr>
            <a:r>
              <a:t>Технический писатель и DevOps — документация и организация разработки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D394C"/>
                </a:solidFill>
              </a:defRPr>
            </a:pPr>
            <a:r>
              <a:t>Экономическая игра о покупке, ремонте и перепродаже автомобилей</a:t>
            </a:r>
          </a:p>
          <a:p>
            <a:pPr>
              <a:spcAft>
                <a:spcPts val="1400"/>
              </a:spcAft>
              <a:defRPr sz="2000">
                <a:solidFill>
                  <a:srgbClr val="2D394C"/>
                </a:solidFill>
              </a:defRPr>
            </a:pPr>
            <a:r>
              <a:t>Моя задача — сделать проект понятным, воспроизводимым и удобным для командной работы</a:t>
            </a:r>
          </a:p>
          <a:p>
            <a:pPr>
              <a:spcAft>
                <a:spcPts val="1400"/>
              </a:spcAft>
              <a:defRPr sz="2000">
                <a:solidFill>
                  <a:srgbClr val="2D394C"/>
                </a:solidFill>
              </a:defRPr>
            </a:pPr>
            <a:r>
              <a:t>Основные материалы: README, документация DevOps, UML и релизный чек-лист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143000" cy="54864"/>
          </a:xfrm>
          <a:prstGeom prst="rect">
            <a:avLst/>
          </a:prstGeom>
          <a:solidFill>
            <a:srgbClr val="26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91"/>
                </a:solidFill>
              </a:defRPr>
            </a:pPr>
            <a: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A42"/>
                </a:solidFill>
              </a:defRPr>
            </a:pPr>
            <a:r>
              <a:t>Игровой цикл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1556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77A"/>
                </a:solidFill>
              </a:defRPr>
            </a:pPr>
            <a:r>
              <a:t>Бизнес-логика проекта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D394C"/>
                </a:solidFill>
              </a:defRPr>
            </a:pPr>
            <a:r>
              <a:t>Карта: гараж, магазин запчастей, СТО и банк</a:t>
            </a:r>
          </a:p>
          <a:p>
            <a:pPr>
              <a:spcAft>
                <a:spcPts val="1400"/>
              </a:spcAft>
              <a:defRPr sz="2000">
                <a:solidFill>
                  <a:srgbClr val="2D394C"/>
                </a:solidFill>
              </a:defRPr>
            </a:pPr>
            <a:r>
              <a:t>Сайт объявлений: поиск машины и чат с продавцом</a:t>
            </a:r>
          </a:p>
          <a:p>
            <a:pPr>
              <a:spcAft>
                <a:spcPts val="1400"/>
              </a:spcAft>
              <a:defRPr sz="2000">
                <a:solidFill>
                  <a:srgbClr val="2D394C"/>
                </a:solidFill>
              </a:defRPr>
            </a:pPr>
            <a:r>
              <a:t>Покупка → ремонт → публикация объявления → переговоры с покупателями-ботами</a:t>
            </a:r>
          </a:p>
          <a:p>
            <a:pPr>
              <a:spcAft>
                <a:spcPts val="1400"/>
              </a:spcAft>
              <a:defRPr sz="2000">
                <a:solidFill>
                  <a:srgbClr val="2D394C"/>
                </a:solidFill>
              </a:defRPr>
            </a:pPr>
            <a:r>
              <a:t>Игрок планирует бюджет, риск ремонта и кредитные обязательства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143000" cy="54864"/>
          </a:xfrm>
          <a:prstGeom prst="rect">
            <a:avLst/>
          </a:prstGeom>
          <a:solidFill>
            <a:srgbClr val="26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91"/>
                </a:solidFill>
              </a:defRPr>
            </a:pPr>
            <a: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A42"/>
                </a:solidFill>
              </a:defRPr>
            </a:pPr>
            <a:r>
              <a:t>Архитектура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1556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77A"/>
                </a:solidFill>
              </a:defRPr>
            </a:pPr>
            <a:r>
              <a:t>Почему модульный монолит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D394C"/>
                </a:solidFill>
              </a:defRPr>
            </a:pPr>
            <a:r>
              <a:t>Одна программа разделена на интерфейс, игровые сценарии, сервисы и основные сущности</a:t>
            </a:r>
          </a:p>
          <a:p>
            <a:pPr>
              <a:spcAft>
                <a:spcPts val="1400"/>
              </a:spcAft>
              <a:defRPr sz="2000">
                <a:solidFill>
                  <a:srgbClr val="2D394C"/>
                </a:solidFill>
              </a:defRPr>
            </a:pPr>
            <a:r>
              <a:t>Проще запускать, тестировать и демонстрировать в учебной команде</a:t>
            </a:r>
          </a:p>
          <a:p>
            <a:pPr>
              <a:spcAft>
                <a:spcPts val="1400"/>
              </a:spcAft>
              <a:defRPr sz="2000">
                <a:solidFill>
                  <a:srgbClr val="2D394C"/>
                </a:solidFill>
              </a:defRPr>
            </a:pPr>
            <a:r>
              <a:t>Микросервисы на первом этапе добавили бы лишнюю сложность</a:t>
            </a:r>
          </a:p>
          <a:p>
            <a:pPr>
              <a:spcAft>
                <a:spcPts val="1400"/>
              </a:spcAft>
              <a:defRPr sz="2000">
                <a:solidFill>
                  <a:srgbClr val="2D394C"/>
                </a:solidFill>
              </a:defRPr>
            </a:pPr>
            <a:r>
              <a:t>При необходимости модули можно развивать и выделять позже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143000" cy="54864"/>
          </a:xfrm>
          <a:prstGeom prst="rect">
            <a:avLst/>
          </a:prstGeom>
          <a:solidFill>
            <a:srgbClr val="26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91"/>
                </a:solidFill>
              </a:defRPr>
            </a:pPr>
            <a: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A42"/>
                </a:solidFill>
              </a:defRPr>
            </a:pPr>
            <a:r>
              <a:t>Структура репозитория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1556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77A"/>
                </a:solidFill>
              </a:defRPr>
            </a:pPr>
            <a:r>
              <a:t>Где находятся материалы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D394C"/>
                </a:solidFill>
              </a:defRPr>
            </a:pPr>
            <a:r>
              <a:t>README.md — описание игры и инструкция запуска</a:t>
            </a:r>
          </a:p>
          <a:p>
            <a:pPr>
              <a:spcAft>
                <a:spcPts val="1400"/>
              </a:spcAft>
              <a:defRPr sz="1800">
                <a:solidFill>
                  <a:srgbClr val="2D394C"/>
                </a:solidFill>
              </a:defRPr>
            </a:pPr>
            <a:r>
              <a:t>devops_documentation.md — архитектура, Git, тестирование, безопасность и сопровождение</a:t>
            </a:r>
          </a:p>
          <a:p>
            <a:pPr>
              <a:spcAft>
                <a:spcPts val="1400"/>
              </a:spcAft>
              <a:defRPr sz="1800">
                <a:solidFill>
                  <a:srgbClr val="2D394C"/>
                </a:solidFill>
              </a:defRPr>
            </a:pPr>
            <a:r>
              <a:t>architecture.puml — исходник UML; architecture_diagram.svg — готовая схема на русском</a:t>
            </a:r>
          </a:p>
          <a:p>
            <a:pPr>
              <a:spcAft>
                <a:spcPts val="1400"/>
              </a:spcAft>
              <a:defRPr sz="1800">
                <a:solidFill>
                  <a:srgbClr val="2D394C"/>
                </a:solidFill>
              </a:defRPr>
            </a:pPr>
            <a:r>
              <a:t>release_checklist.md — проверка перед сдачей</a:t>
            </a:r>
          </a:p>
          <a:p>
            <a:pPr>
              <a:spcAft>
                <a:spcPts val="1400"/>
              </a:spcAft>
              <a:defRPr sz="1800">
                <a:solidFill>
                  <a:srgbClr val="2D394C"/>
                </a:solidFill>
              </a:defRPr>
            </a:pPr>
            <a:r>
              <a:t>Папки кода и тестов добавляются по мере реализации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143000" cy="54864"/>
          </a:xfrm>
          <a:prstGeom prst="rect">
            <a:avLst/>
          </a:prstGeom>
          <a:solidFill>
            <a:srgbClr val="26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91"/>
                </a:solidFill>
              </a:defRPr>
            </a:pPr>
            <a: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A42"/>
                </a:solidFill>
              </a:defRPr>
            </a:pPr>
            <a:r>
              <a:t>Работа с GitHub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1556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77A"/>
                </a:solidFill>
              </a:defRPr>
            </a:pPr>
            <a:r>
              <a:t>Изменения должны быть проверяемыми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D394C"/>
                </a:solidFill>
              </a:defRPr>
            </a:pPr>
            <a:r>
              <a:t>main — стабильная версия; develop — интеграционная ветка</a:t>
            </a:r>
          </a:p>
          <a:p>
            <a:pPr>
              <a:spcAft>
                <a:spcPts val="1400"/>
              </a:spcAft>
              <a:defRPr sz="2000">
                <a:solidFill>
                  <a:srgbClr val="2D394C"/>
                </a:solidFill>
              </a:defRPr>
            </a:pPr>
            <a:r>
              <a:t>Отдельные ветки для функций, исправлений и документации</a:t>
            </a:r>
          </a:p>
          <a:p>
            <a:pPr>
              <a:spcAft>
                <a:spcPts val="1400"/>
              </a:spcAft>
              <a:defRPr sz="2000">
                <a:solidFill>
                  <a:srgbClr val="2D394C"/>
                </a:solidFill>
              </a:defRPr>
            </a:pPr>
            <a:r>
              <a:t>Задача → ветка → изменение и тесты → Pull Request → проверка → слияние</a:t>
            </a:r>
          </a:p>
          <a:p>
            <a:pPr>
              <a:spcAft>
                <a:spcPts val="1400"/>
              </a:spcAft>
              <a:defRPr sz="2000">
                <a:solidFill>
                  <a:srgbClr val="2D394C"/>
                </a:solidFill>
              </a:defRPr>
            </a:pPr>
            <a:r>
              <a:t>Нельзя хранить в репозитории пароли, токены и реальные персональные данные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143000" cy="54864"/>
          </a:xfrm>
          <a:prstGeom prst="rect">
            <a:avLst/>
          </a:prstGeom>
          <a:solidFill>
            <a:srgbClr val="26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91"/>
                </a:solidFill>
              </a:defRPr>
            </a:pPr>
            <a: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A42"/>
                </a:solidFill>
              </a:defRPr>
            </a:pPr>
            <a:r>
              <a:t>UML и документация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1556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77A"/>
                </a:solidFill>
              </a:defRPr>
            </a:pPr>
            <a:r>
              <a:t>Документы должны соответствовать коду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D394C"/>
                </a:solidFill>
              </a:defRPr>
            </a:pPr>
            <a:r>
              <a:t>Диаграмма показывает интерфейс, контроллер, игровые сервисы и основные сущности</a:t>
            </a:r>
          </a:p>
          <a:p>
            <a:pPr>
              <a:spcAft>
                <a:spcPts val="1400"/>
              </a:spcAft>
              <a:defRPr sz="2000">
                <a:solidFill>
                  <a:srgbClr val="2D394C"/>
                </a:solidFill>
              </a:defRPr>
            </a:pPr>
            <a:r>
              <a:t>Игрок владеет автомобилями; у автомобиля есть история ремонтов; у игрока могут быть кредиты</a:t>
            </a:r>
          </a:p>
          <a:p>
            <a:pPr>
              <a:spcAft>
                <a:spcPts val="1400"/>
              </a:spcAft>
              <a:defRPr sz="2000">
                <a:solidFill>
                  <a:srgbClr val="2D394C"/>
                </a:solidFill>
              </a:defRPr>
            </a:pPr>
            <a:r>
              <a:t>Для публичных классов и методов нужны docstring</a:t>
            </a:r>
          </a:p>
          <a:p>
            <a:pPr>
              <a:spcAft>
                <a:spcPts val="1400"/>
              </a:spcAft>
              <a:defRPr sz="2000">
                <a:solidFill>
                  <a:srgbClr val="2D394C"/>
                </a:solidFill>
              </a:defRPr>
            </a:pPr>
            <a:r>
              <a:t>При изменении логики обновляются диаграмма, README и тесты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143000" cy="54864"/>
          </a:xfrm>
          <a:prstGeom prst="rect">
            <a:avLst/>
          </a:prstGeom>
          <a:solidFill>
            <a:srgbClr val="26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91"/>
                </a:solidFill>
              </a:defRPr>
            </a:pPr>
            <a: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A42"/>
                </a:solidFill>
              </a:defRPr>
            </a:pPr>
            <a:r>
              <a:t>Выпуск и сопровождение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1556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77A"/>
                </a:solidFill>
              </a:defRPr>
            </a:pPr>
            <a:r>
              <a:t>Критерии готовности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D394C"/>
                </a:solidFill>
              </a:defRPr>
            </a:pPr>
            <a:r>
              <a:t>Проверить покупку, ремонт, кредит, продажу и сохранение</a:t>
            </a:r>
          </a:p>
          <a:p>
            <a:pPr>
              <a:spcAft>
                <a:spcPts val="1400"/>
              </a:spcAft>
              <a:defRPr sz="1800">
                <a:solidFill>
                  <a:srgbClr val="2D394C"/>
                </a:solidFill>
              </a:defRPr>
            </a:pPr>
            <a:r>
              <a:t>Тестировать неверные данные и запрет повторной оплаты продажи</a:t>
            </a:r>
          </a:p>
          <a:p>
            <a:pPr>
              <a:spcAft>
                <a:spcPts val="1400"/>
              </a:spcAft>
              <a:defRPr sz="1800">
                <a:solidFill>
                  <a:srgbClr val="2D394C"/>
                </a:solidFill>
              </a:defRPr>
            </a:pPr>
            <a:r>
              <a:t>Перед изменением формата сохранения делать резервную копию</a:t>
            </a:r>
          </a:p>
          <a:p>
            <a:pPr>
              <a:spcAft>
                <a:spcPts val="1400"/>
              </a:spcAft>
              <a:defRPr sz="1800">
                <a:solidFill>
                  <a:srgbClr val="2D394C"/>
                </a:solidFill>
              </a:defRPr>
            </a:pPr>
            <a:r>
              <a:t>152-ФЗ, 149-ФЗ и GDPR применяются с учётом фактических данных и юрисдикции</a:t>
            </a:r>
          </a:p>
          <a:p>
            <a:pPr>
              <a:spcAft>
                <a:spcPts val="1400"/>
              </a:spcAft>
              <a:defRPr sz="1800">
                <a:solidFill>
                  <a:srgbClr val="2D394C"/>
                </a:solidFill>
              </a:defRPr>
            </a:pPr>
            <a:r>
              <a:t>Итог: проект можно установить, понять, проверить и развивать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143000" cy="54864"/>
          </a:xfrm>
          <a:prstGeom prst="rect">
            <a:avLst/>
          </a:prstGeom>
          <a:solidFill>
            <a:srgbClr val="26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91"/>
                </a:solidFill>
              </a:defRPr>
            </a:pPr>
            <a: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